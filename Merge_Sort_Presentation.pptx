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Operations as input size n grows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log₂ n (Merge Sort)</c:v>
                </c:pt>
              </c:strCache>
            </c:strRef>
          </c:tx>
          <c:spPr>
            <a:solidFill>
              <a:srgbClr val="22D3EE"/>
            </a:solidFill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20</c:v>
                  </c:pt>
                  <c:pt idx="2">
                    <c:v>40</c:v>
                  </c:pt>
                  <c:pt idx="3">
                    <c:v>80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86</c:v>
                </c:pt>
                <c:pt idx="2">
                  <c:v>213</c:v>
                </c:pt>
                <c:pt idx="3">
                  <c:v>506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 (simple sorts)</c:v>
                </c:pt>
              </c:strCache>
            </c:strRef>
          </c:tx>
          <c:spPr>
            <a:solidFill>
              <a:srgbClr val="FBBF24"/>
            </a:solidFill>
            <a:ln w="38100" cap="flat">
              <a:solidFill>
                <a:srgbClr val="FBBF2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BBF24"/>
              </a:solidFill>
              <a:ln w="9525" cap="flat">
                <a:solidFill>
                  <a:srgbClr val="FBBF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20</c:v>
                  </c:pt>
                  <c:pt idx="2">
                    <c:v>40</c:v>
                  </c:pt>
                  <c:pt idx="3">
                    <c:v>80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400</c:v>
                </c:pt>
                <c:pt idx="2">
                  <c:v>1600</c:v>
                </c:pt>
                <c:pt idx="3">
                  <c:v>6400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FC3E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D3A7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FC3E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Merge Sort, a classic divide-and-conquer sorting algorithm. Fill in your name and college.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Sort is comparison-based and divide-and-conquer. Walk through the flow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stages: divide, conquer, combine. The small example 5,2,4,1 shows each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running example. The goal is ascending order. The target is a preview only; we reach it by merging.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in half recursively until every subarray has one element. A single element is already sorted.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front elements of both sorted halves and take the smaller. When one side empties, copy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bottom-up. Every intermediate array matches the worked example, ending in the sorted array.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recursive function. Right: the merge helper using two pointers.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log n levels of splitting, and each level does about n work in total, so O(n log 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82296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</a:rPr>
              <a:t>MERGE SORT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 Divide and Conquer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8229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8346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8CC"/>
                </a:solidFill>
              </a:rPr>
              <a:t>Subject: Data Structures and Algorithms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8CC"/>
                </a:solidFill>
              </a:rPr>
              <a:t>Presented by: [Your Name]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8CC"/>
                </a:solidFill>
              </a:rPr>
              <a:t>College: [Your College Name]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8CC"/>
                </a:solidFill>
              </a:rPr>
              <a:t>UNSORTED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855464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385816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916168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976872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07224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037576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75120" y="2194560"/>
            <a:ext cx="0" cy="54864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84632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</a:rPr>
              <a:t>SORTED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55464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385816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916168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507224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037576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Merge Sort?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 comparison-based sorting algorithm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Follows the divide-and-conquer approach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Recursively divides the array into smaller subarrays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Sorts and merges subarrays into one sorted array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347472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94A8CC">
              <a:alpha val="35000"/>
            </a:srgbClr>
          </a:solidFill>
          <a:ln w="19050">
            <a:solidFill>
              <a:srgbClr val="94A8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Unsorted Array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83080" y="3840480"/>
            <a:ext cx="365760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2148840" y="347472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3B82F6">
              <a:alpha val="35000"/>
            </a:srgbClr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Divide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520440" y="3840480"/>
            <a:ext cx="365760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3886200" y="347472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22D3EE">
              <a:alpha val="35000"/>
            </a:srgbClr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Sort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57800" y="3840480"/>
            <a:ext cx="365760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5623560" y="347472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34D399">
              <a:alpha val="35000"/>
            </a:srgbClr>
          </a:solidFill>
          <a:ln w="19050">
            <a:solidFill>
              <a:srgbClr val="34D3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Merge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95160" y="3840480"/>
            <a:ext cx="365760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7360920" y="347472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22D3EE">
              <a:alpha val="35000"/>
            </a:srgbClr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Sorted Array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Divide and Conquer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23444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10213F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Divide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94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Split the array into smaller subarrays.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8CC"/>
                </a:solidFill>
              </a:rPr>
              <a:t>Split in half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80360" y="2743200"/>
            <a:ext cx="457200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37560" y="123444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1021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0" y="1463040"/>
            <a:ext cx="502920" cy="502920"/>
          </a:xfrm>
          <a:prstGeom prst="ellipse">
            <a:avLst/>
          </a:prstGeom>
          <a:solidFill>
            <a:srgbClr val="22D3EE">
              <a:alpha val="60000"/>
            </a:srgbClr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Conquer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3566160" y="2194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Recursively sort the subarrays.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5760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06908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12064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56616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8CC"/>
                </a:solidFill>
              </a:rPr>
              <a:t>Sort each half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806440" y="2743200"/>
            <a:ext cx="457200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263640" y="123444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10213F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1463040"/>
            <a:ext cx="502920" cy="502920"/>
          </a:xfrm>
          <a:prstGeom prst="ellipse">
            <a:avLst/>
          </a:prstGeom>
          <a:solidFill>
            <a:srgbClr val="34D399">
              <a:alpha val="60000"/>
            </a:srgbClr>
          </a:solidFill>
          <a:ln w="12700">
            <a:solidFill>
              <a:srgbClr val="34D3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Combine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2194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Merge the sorted subarrays.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69798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10946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52094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93242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9224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8CC"/>
                </a:solidFill>
              </a:rPr>
              <a:t>Merge the halves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Example: The Initial Array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Goal: arrange the numbers in ascending order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4A8CC"/>
                </a:solidFill>
              </a:rPr>
              <a:t>INPUT ARRAY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201168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77800" dist="50800" dir="16200000">
              <a:srgbClr val="3B82F6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2240280" y="201168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201168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7C3AED">
              <a:alpha val="3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77800" dist="50800" dir="16200000">
              <a:srgbClr val="7C3AED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310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201168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F472B6">
              <a:alpha val="30000"/>
            </a:srgbClr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77800" dist="50800" dir="16200000">
              <a:srgbClr val="F472B6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201168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34D399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3100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201168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50800" dir="16200000">
              <a:srgbClr val="FBBF24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201168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60A5FA">
              <a:alpha val="30000"/>
            </a:srgbClr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77800" dist="50800" dir="16200000">
              <a:srgbClr val="60A5FA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3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4A8CC"/>
                </a:solidFill>
              </a:rPr>
              <a:t>TARGET (ASCENDING ORDER)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34747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94A8CC">
              <a:alpha val="0"/>
            </a:srgbClr>
          </a:solidFill>
          <a:ln w="19050">
            <a:solidFill>
              <a:srgbClr val="94A8C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2926080" y="34747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94A8CC">
              <a:alpha val="0"/>
            </a:srgbClr>
          </a:solidFill>
          <a:ln w="19050">
            <a:solidFill>
              <a:srgbClr val="94A8C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3611880" y="34747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94A8CC">
              <a:alpha val="0"/>
            </a:srgbClr>
          </a:solidFill>
          <a:ln w="19050">
            <a:solidFill>
              <a:srgbClr val="94A8C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34747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94A8CC">
              <a:alpha val="0"/>
            </a:srgbClr>
          </a:solidFill>
          <a:ln w="19050">
            <a:solidFill>
              <a:srgbClr val="94A8C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983480" y="34747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94A8CC">
              <a:alpha val="0"/>
            </a:srgbClr>
          </a:solidFill>
          <a:ln w="19050">
            <a:solidFill>
              <a:srgbClr val="94A8C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34747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94A8CC">
              <a:alpha val="0"/>
            </a:srgbClr>
          </a:solidFill>
          <a:ln w="19050">
            <a:solidFill>
              <a:srgbClr val="94A8C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34747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94A8CC">
              <a:alpha val="0"/>
            </a:srgbClr>
          </a:solidFill>
          <a:ln w="19050">
            <a:solidFill>
              <a:srgbClr val="94A8C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8CC"/>
                </a:solidFill>
              </a:rPr>
              <a:t>We will reach this by merging, step by step.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Step 1: Divide the Array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 flipH="1">
            <a:off x="2839212" y="1636776"/>
            <a:ext cx="1741932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5" name="Shape 2"/>
          <p:cNvSpPr/>
          <p:nvPr/>
        </p:nvSpPr>
        <p:spPr>
          <a:xfrm>
            <a:off x="4581144" y="1636776"/>
            <a:ext cx="2322576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 flipH="1">
            <a:off x="1677924" y="2505456"/>
            <a:ext cx="1161288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839212" y="2505456"/>
            <a:ext cx="1161288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 flipH="1">
            <a:off x="5742432" y="2505456"/>
            <a:ext cx="1161288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903720" y="250545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 flipH="1">
            <a:off x="1097280" y="337413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677924" y="337413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 flipH="1">
            <a:off x="3419856" y="337413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000500" y="337413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 flipH="1">
            <a:off x="6903720" y="337413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484364" y="337413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044952" y="1133856"/>
            <a:ext cx="3072384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3099816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529584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59352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389120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818888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48656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78424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947672" y="2002536"/>
            <a:ext cx="1783080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2002536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2432304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862072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291840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27064" y="2002536"/>
            <a:ext cx="1353312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6281928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711696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141464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216152" y="2871216"/>
            <a:ext cx="923544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1271016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700784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538728" y="2871216"/>
            <a:ext cx="923544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3593592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023360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95544" y="287121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5550408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022592" y="2871216"/>
            <a:ext cx="923544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42" name="Text 39"/>
          <p:cNvSpPr txBox="1"/>
          <p:nvPr/>
        </p:nvSpPr>
        <p:spPr>
          <a:xfrm>
            <a:off x="7077456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7507224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850392" y="373989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45" name="Text 42"/>
          <p:cNvSpPr txBox="1"/>
          <p:nvPr/>
        </p:nvSpPr>
        <p:spPr>
          <a:xfrm>
            <a:off x="905256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2011680" y="373989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47" name="Text 44"/>
          <p:cNvSpPr txBox="1"/>
          <p:nvPr/>
        </p:nvSpPr>
        <p:spPr>
          <a:xfrm>
            <a:off x="2066544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3172968" y="373989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3227832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4334256" y="373989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51" name="Text 48"/>
          <p:cNvSpPr txBox="1"/>
          <p:nvPr/>
        </p:nvSpPr>
        <p:spPr>
          <a:xfrm>
            <a:off x="4389120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6656832" y="373989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53" name="Text 50"/>
          <p:cNvSpPr txBox="1"/>
          <p:nvPr/>
        </p:nvSpPr>
        <p:spPr>
          <a:xfrm>
            <a:off x="6711696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7818120" y="373989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55" name="Text 52"/>
          <p:cNvSpPr txBox="1"/>
          <p:nvPr/>
        </p:nvSpPr>
        <p:spPr>
          <a:xfrm>
            <a:off x="7872984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8CC"/>
                </a:solidFill>
              </a:rPr>
              <a:t>Keep splitting until each subarray has one element. A single element is already sorted.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Merging Works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2249424" y="1188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2779776" y="1188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907024" y="1188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37376" y="1188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8CC"/>
                </a:solidFill>
              </a:rPr>
              <a:t>Left (sorted)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8CC"/>
                </a:solidFill>
              </a:rPr>
              <a:t>Right (sorted)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1965960"/>
            <a:ext cx="1463040" cy="41148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 flipH="1">
            <a:off x="4937760" y="1965960"/>
            <a:ext cx="1463040" cy="41148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3547872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34D399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078224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34D399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608576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34D399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138928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34D399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219456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Compare fronts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Take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Result so far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27 vs 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[3]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27 vs 43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[3, 27]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38 vs 43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[3, 27, 38]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Left is empty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copy 43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[3, 27, 38, 43]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Step 2: Merge Back Together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 flipH="1">
            <a:off x="2839212" y="1636776"/>
            <a:ext cx="1741932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5" name="Shape 2"/>
          <p:cNvSpPr/>
          <p:nvPr/>
        </p:nvSpPr>
        <p:spPr>
          <a:xfrm>
            <a:off x="4581144" y="1636776"/>
            <a:ext cx="2322576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6" name="Shape 3"/>
          <p:cNvSpPr/>
          <p:nvPr/>
        </p:nvSpPr>
        <p:spPr>
          <a:xfrm flipH="1">
            <a:off x="1677924" y="2505456"/>
            <a:ext cx="1161288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2839212" y="2505456"/>
            <a:ext cx="1161288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8" name="Shape 5"/>
          <p:cNvSpPr/>
          <p:nvPr/>
        </p:nvSpPr>
        <p:spPr>
          <a:xfrm flipH="1">
            <a:off x="5742432" y="2505456"/>
            <a:ext cx="1161288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9" name="Shape 6"/>
          <p:cNvSpPr/>
          <p:nvPr/>
        </p:nvSpPr>
        <p:spPr>
          <a:xfrm>
            <a:off x="6903720" y="250545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10" name="Shape 7"/>
          <p:cNvSpPr/>
          <p:nvPr/>
        </p:nvSpPr>
        <p:spPr>
          <a:xfrm flipH="1">
            <a:off x="1097280" y="337413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1677924" y="337413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12" name="Shape 9"/>
          <p:cNvSpPr/>
          <p:nvPr/>
        </p:nvSpPr>
        <p:spPr>
          <a:xfrm flipH="1">
            <a:off x="3419856" y="337413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13" name="Shape 10"/>
          <p:cNvSpPr/>
          <p:nvPr/>
        </p:nvSpPr>
        <p:spPr>
          <a:xfrm>
            <a:off x="4000500" y="337413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14" name="Shape 11"/>
          <p:cNvSpPr/>
          <p:nvPr/>
        </p:nvSpPr>
        <p:spPr>
          <a:xfrm flipH="1">
            <a:off x="6903720" y="337413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7484364" y="3374136"/>
            <a:ext cx="580644" cy="356616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16" name="Shape 13"/>
          <p:cNvSpPr/>
          <p:nvPr/>
        </p:nvSpPr>
        <p:spPr>
          <a:xfrm>
            <a:off x="3044952" y="1133856"/>
            <a:ext cx="3072384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3099816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34D399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529584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34D399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59352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34D399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389120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34D399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818888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34D399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48656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34D399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78424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34D399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947672" y="2002536"/>
            <a:ext cx="1783080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2002536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2432304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862072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291840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27064" y="2002536"/>
            <a:ext cx="1353312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6281928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711696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141464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216152" y="2871216"/>
            <a:ext cx="923544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1271016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700784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538728" y="2871216"/>
            <a:ext cx="923544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3593592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023360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95544" y="287121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5550408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022592" y="2871216"/>
            <a:ext cx="923544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42" name="Text 39"/>
          <p:cNvSpPr txBox="1"/>
          <p:nvPr/>
        </p:nvSpPr>
        <p:spPr>
          <a:xfrm>
            <a:off x="7077456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7507224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850392" y="373989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45" name="Text 42"/>
          <p:cNvSpPr txBox="1"/>
          <p:nvPr/>
        </p:nvSpPr>
        <p:spPr>
          <a:xfrm>
            <a:off x="905256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2011680" y="373989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47" name="Text 44"/>
          <p:cNvSpPr txBox="1"/>
          <p:nvPr/>
        </p:nvSpPr>
        <p:spPr>
          <a:xfrm>
            <a:off x="2066544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3172968" y="373989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3227832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4334256" y="373989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51" name="Text 48"/>
          <p:cNvSpPr txBox="1"/>
          <p:nvPr/>
        </p:nvSpPr>
        <p:spPr>
          <a:xfrm>
            <a:off x="4389120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6656832" y="373989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53" name="Text 50"/>
          <p:cNvSpPr txBox="1"/>
          <p:nvPr/>
        </p:nvSpPr>
        <p:spPr>
          <a:xfrm>
            <a:off x="6711696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7818120" y="373989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213F">
              <a:alpha val="0"/>
            </a:srgbClr>
          </a:solidFill>
          <a:ln w="12700">
            <a:solidFill>
              <a:srgbClr val="1D3A78"/>
            </a:solidFill>
            <a:prstDash val="dash"/>
          </a:ln>
        </p:spPr>
      </p:sp>
      <p:sp>
        <p:nvSpPr>
          <p:cNvPr id="55" name="Text 52"/>
          <p:cNvSpPr txBox="1"/>
          <p:nvPr/>
        </p:nvSpPr>
        <p:spPr>
          <a:xfrm>
            <a:off x="7872984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8CC"/>
                </a:solidFill>
              </a:rPr>
              <a:t>[38]+[27] → [27, 38]   [43]+[3] → [3, 43]   [82]+[10] → [10, 82]   [9]+[10, 82] → [9, 10, 82]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Algorithm and Pseudocode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10213F"/>
          </a:solidFill>
          <a:ln w="15875">
            <a:solidFill>
              <a:srgbClr val="1D3A7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663440" y="123444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10213F"/>
          </a:solidFill>
          <a:ln w="15875">
            <a:solidFill>
              <a:srgbClr val="1D3A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D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MERGE_SORT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(array):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length(array) ≤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array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8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base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← length(array) /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 ←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D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MERGE_SORT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(array[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..mid-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 ←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D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MERGE_SORT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(array[mid..end])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D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(left, right)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32588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D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(left, right):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← []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left and right not empty: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take the smaller front element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 to result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remaining elements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02336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3B82F6">
              <a:alpha val="35000"/>
            </a:srgbClr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Divide: find mid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402336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22D3EE">
              <a:alpha val="35000"/>
            </a:srgbClr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Conquer: recursive calls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402336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34D399">
              <a:alpha val="35000"/>
            </a:srgbClr>
          </a:solidFill>
          <a:ln w="19050">
            <a:solidFill>
              <a:srgbClr val="34D3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Combine: MERGE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Time and Space Complexity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3383280" cy="960120"/>
          </a:xfrm>
          <a:prstGeom prst="roundRect">
            <a:avLst>
              <a:gd name="adj" fmla="val 11429"/>
            </a:avLst>
          </a:prstGeom>
          <a:solidFill>
            <a:srgbClr val="1021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01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8CC"/>
                </a:solidFill>
              </a:rPr>
              <a:t>Time: best, average and worst case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3383280" cy="960120"/>
          </a:xfrm>
          <a:prstGeom prst="roundRect">
            <a:avLst>
              <a:gd name="adj" fmla="val 11429"/>
            </a:avLst>
          </a:prstGeom>
          <a:solidFill>
            <a:srgbClr val="10213F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8CC"/>
                </a:solidFill>
              </a:rPr>
              <a:t>Extra space for temporary merged arrays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520440"/>
            <a:ext cx="3383280" cy="960120"/>
          </a:xfrm>
          <a:prstGeom prst="roundRect">
            <a:avLst>
              <a:gd name="adj" fmla="val 11429"/>
            </a:avLst>
          </a:prstGeom>
          <a:solidFill>
            <a:srgbClr val="10213F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087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8CC"/>
                </a:solidFill>
              </a:rPr>
              <a:t>Equal values keep their original order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114800" y="118872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280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Divide, conquer, then combine: split, sort recursively, merge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Guaranteed O(n log n) time in every case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Stable and easy to reason about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611880"/>
            <a:ext cx="502920" cy="502920"/>
          </a:xfrm>
          <a:prstGeom prst="ellips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611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Trade-off: needs O(n) extra memory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69280" y="1234440"/>
            <a:ext cx="3017520" cy="3017520"/>
          </a:xfrm>
          <a:prstGeom prst="roundRect">
            <a:avLst>
              <a:gd name="adj" fmla="val 3636"/>
            </a:avLst>
          </a:prstGeom>
          <a:solidFill>
            <a:srgbClr val="1021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0" y="1600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</a:rPr>
              <a:t>Thank You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Questions?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788152" y="32004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90488" y="32004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592824" y="32004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32004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397496" y="32004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99832" y="32004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02168" y="32004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40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50800" dir="16200000">
              <a:srgbClr val="22D3EE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MergeSort">
  <a:themeElements>
    <a:clrScheme name="MergeSort">
      <a:dk1>
        <a:srgbClr val="0A1428"/>
      </a:dk1>
      <a:lt1>
        <a:srgbClr val="FFFFFF"/>
      </a:lt1>
      <a:dk2>
        <a:srgbClr val="10213F"/>
      </a:dk2>
      <a:lt2>
        <a:srgbClr val="E6F1FF"/>
      </a:lt2>
      <a:accent1>
        <a:srgbClr val="3B82F6"/>
      </a:accent1>
      <a:accent2>
        <a:srgbClr val="22D3EE"/>
      </a:accent2>
      <a:accent3>
        <a:srgbClr val="34D399"/>
      </a:accent3>
      <a:accent4>
        <a:srgbClr val="FBBF24"/>
      </a:accent4>
      <a:accent5>
        <a:srgbClr val="7C3AED"/>
      </a:accent5>
      <a:accent6>
        <a:srgbClr val="F472B6"/>
      </a:accent6>
      <a:hlink>
        <a:srgbClr val="22D3EE"/>
      </a:hlink>
      <a:folHlink>
        <a:srgbClr val="94A8CC"/>
      </a:folHlink>
    </a:clrScheme>
    <a:fontScheme name="MergeSor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Sort: A Divide and Conquer Algorithm</dc:title>
  <dc:subject>PptxGenJS Presentation</dc:subject>
  <dc:creator>PptxGenJS</dc:creator>
  <cp:lastModifiedBy>PptxGenJS</cp:lastModifiedBy>
  <cp:revision>1</cp:revision>
  <dcterms:created xsi:type="dcterms:W3CDTF">2026-10-19T14:40:49Z</dcterms:created>
  <dcterms:modified xsi:type="dcterms:W3CDTF">2026-10-19T14:40:49Z</dcterms:modified>
</cp:coreProperties>
</file>